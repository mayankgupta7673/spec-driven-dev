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1463040"/>
            <a:ext cx="4572000" cy="457200"/>
          </a:xfrm>
          <a:prstGeom prst="roundRect">
            <a:avLst>
              <a:gd name="adj" fmla="val 50000"/>
            </a:avLst>
          </a:prstGeom>
          <a:solidFill>
            <a:srgbClr val="102A2A"/>
          </a:solidFill>
          <a:ln w="12700">
            <a:solidFill>
              <a:srgbClr val="2E6E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490472"/>
            <a:ext cx="43891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AF0C8"/>
                </a:solidFill>
                <a:latin typeface="Segoe UI"/>
              </a:rPr>
              <a:t>●  Spec-Kit · GitHub Copilot · Azure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F0C8"/>
                </a:solidFill>
                <a:latin typeface="Segoe UI"/>
              </a:rPr>
              <a:t>A BETTER WAY TO BUILD SOFTWARE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>
                <a:solidFill>
                  <a:srgbClr val="E8EDFF"/>
                </a:solidFill>
                <a:latin typeface="Segoe UI"/>
              </a:rPr>
              <a:t>Spec-Driven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8686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B0D8"/>
                </a:solidFill>
                <a:latin typeface="Segoe UI"/>
              </a:rPr>
              <a:t>Define what and why before deciding how. Turn requirements into a living spec, a plan, and tasks — then let AI implement against those artifacts, not a throwaway prompt.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"Vibe coding" with AI doesn't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5760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700" b="1">
                <a:solidFill>
                  <a:srgbClr val="FF6B8B"/>
                </a:solidFill>
                <a:latin typeface="Segoe UI"/>
              </a:rPr>
              <a:t>✘  </a:t>
            </a:r>
            <a:r>
              <a:rPr sz="1700" b="1">
                <a:solidFill>
                  <a:srgbClr val="E8EDFF"/>
                </a:solidFill>
                <a:latin typeface="Segoe UI"/>
              </a:rPr>
              <a:t>Intent evaporates.  </a:t>
            </a:r>
            <a:r>
              <a:rPr sz="1700">
                <a:solidFill>
                  <a:srgbClr val="9FB0D8"/>
                </a:solidFill>
                <a:latin typeface="Segoe UI"/>
              </a:rPr>
              <a:t>A prompt is typed, code appears, the “why” is gone.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FF6B8B"/>
                </a:solidFill>
                <a:latin typeface="Segoe UI"/>
              </a:rPr>
              <a:t>✘  </a:t>
            </a:r>
            <a:r>
              <a:rPr sz="1700" b="1">
                <a:solidFill>
                  <a:srgbClr val="E8EDFF"/>
                </a:solidFill>
                <a:latin typeface="Segoe UI"/>
              </a:rPr>
              <a:t>Nothing to review.  </a:t>
            </a:r>
            <a:r>
              <a:rPr sz="1700">
                <a:solidFill>
                  <a:srgbClr val="9FB0D8"/>
                </a:solidFill>
                <a:latin typeface="Segoe UI"/>
              </a:rPr>
              <a:t>Reviewers see code with no spec to check it against.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FF6B8B"/>
                </a:solidFill>
                <a:latin typeface="Segoe UI"/>
              </a:rPr>
              <a:t>✘  </a:t>
            </a:r>
            <a:r>
              <a:rPr sz="1700" b="1">
                <a:solidFill>
                  <a:srgbClr val="E8EDFF"/>
                </a:solidFill>
                <a:latin typeface="Segoe UI"/>
              </a:rPr>
              <a:t>Inconsistent output.  </a:t>
            </a:r>
            <a:r>
              <a:rPr sz="1700">
                <a:solidFill>
                  <a:srgbClr val="9FB0D8"/>
                </a:solidFill>
                <a:latin typeface="Segoe UI"/>
              </a:rPr>
              <a:t>The same ask yields different results every run.</a:t>
            </a:r>
          </a:p>
          <a:p>
            <a:pPr>
              <a:spcAft>
                <a:spcPts val="1600"/>
              </a:spcAft>
            </a:pPr>
            <a:r>
              <a:rPr sz="1700" b="1">
                <a:solidFill>
                  <a:srgbClr val="FF6B8B"/>
                </a:solidFill>
                <a:latin typeface="Segoe UI"/>
              </a:rPr>
              <a:t>✘  </a:t>
            </a:r>
            <a:r>
              <a:rPr sz="1700" b="1">
                <a:solidFill>
                  <a:srgbClr val="E8EDFF"/>
                </a:solidFill>
                <a:latin typeface="Segoe UI"/>
              </a:rPr>
              <a:t>No traceability.  </a:t>
            </a:r>
            <a:r>
              <a:rPr sz="1700">
                <a:solidFill>
                  <a:srgbClr val="9FB0D8"/>
                </a:solidFill>
                <a:latin typeface="Segoe UI"/>
              </a:rPr>
              <a:t>You can't link a change back to a requirement or ticket.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2103120"/>
            <a:ext cx="4389120" cy="31089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Prompt → Code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The gap between a one-line prompt and production code is filled with the model's guesses — not your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365760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0D1430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B0D8"/>
                </a:solidFill>
                <a:latin typeface="Consolas"/>
              </a:rPr>
              <a:t># today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>"add an endpoint to submit orders"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B0D8"/>
                </a:solidFill>
                <a:latin typeface="Consolas"/>
              </a:rPr>
              <a:t># → 200 lines, unknown assumptions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REALITY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AI is not a compiler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577840" cy="30175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146304"/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/>
            </a:r>
            <a:r>
              <a:rPr sz="2000" b="0">
                <a:solidFill>
                  <a:srgbClr val="E8EDFF"/>
                </a:solidFill>
                <a:latin typeface="Segoe UI"/>
              </a:rPr>
              <a:t>“I just see things, say things, run things, and copy-paste things, and it mostly works.”</a:t>
            </a:r>
          </a:p>
          <a:p>
            <a:pPr algn="l">
              <a:lnSpc>
                <a:spcPct val="100000"/>
              </a:lnSpc>
              <a:spcBef>
                <a:spcPts val="1400"/>
              </a:spcBef>
            </a:pPr>
            <a:r>
              <a:rPr sz="1300" b="0">
                <a:solidFill>
                  <a:srgbClr val="9FB0D8"/>
                </a:solidFill>
                <a:latin typeface="Segoe UI"/>
              </a:rPr>
              <a:t>— Andrej Karpathy, on “vibe coding”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0" y="219456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 b="1">
                <a:solidFill>
                  <a:srgbClr val="FF6B8B"/>
                </a:solidFill>
                <a:latin typeface="Segoe UI"/>
              </a:rPr>
              <a:t>✘  </a:t>
            </a:r>
            <a:r>
              <a:rPr sz="1600" b="1">
                <a:solidFill>
                  <a:srgbClr val="E8EDFF"/>
                </a:solidFill>
                <a:latin typeface="Segoe UI"/>
              </a:rPr>
              <a:t>Non-deterministic.  </a:t>
            </a:r>
            <a:r>
              <a:rPr sz="1600">
                <a:solidFill>
                  <a:srgbClr val="9FB0D8"/>
                </a:solidFill>
                <a:latin typeface="Segoe UI"/>
              </a:rPr>
              <a:t>Precise input ≠ perfect output.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FF6B8B"/>
                </a:solidFill>
                <a:latin typeface="Segoe UI"/>
              </a:rPr>
              <a:t>✘  </a:t>
            </a:r>
            <a:r>
              <a:rPr sz="1600" b="1">
                <a:solidFill>
                  <a:srgbClr val="E8EDFF"/>
                </a:solidFill>
                <a:latin typeface="Segoe UI"/>
              </a:rPr>
              <a:t>An assistant, not a compiler.  </a:t>
            </a:r>
            <a:r>
              <a:rPr sz="1600">
                <a:solidFill>
                  <a:srgbClr val="9FB0D8"/>
                </a:solidFill>
                <a:latin typeface="Segoe UI"/>
              </a:rPr>
              <a:t>It guesses, and it makes mistakes.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You own the output.  </a:t>
            </a:r>
            <a:r>
              <a:rPr sz="1600">
                <a:solidFill>
                  <a:srgbClr val="9FB0D8"/>
                </a:solidFill>
                <a:latin typeface="Segoe UI"/>
              </a:rPr>
              <a:t>Review, understand, and test everything.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AN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Building a backyard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5120640" cy="30175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🔥  “Just build me something cool”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The contractor assumes your intent. The BBQ arrives — but there's no cutout in the stone and no gas line. Every change means tearing up what's already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5120640" cy="50800"/>
          </a:xfrm>
          <a:prstGeom prst="rect">
            <a:avLst/>
          </a:prstGeom>
          <a:solidFill>
            <a:srgbClr val="FF6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526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6B8B"/>
                </a:solidFill>
                <a:latin typeface="Segoe UI"/>
              </a:rPr>
              <a:t>Prompt-and-pray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011680"/>
            <a:ext cx="5029200" cy="30175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📐  “The blueprint is the source of truth”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Exact dimensions. Appliances chosen first to define the interface. Utilities laid before pavers. The same blueprint works with any mason.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2011680"/>
            <a:ext cx="5029200" cy="50800"/>
          </a:xfrm>
          <a:prstGeom prst="rect">
            <a:avLst/>
          </a:prstGeom>
          <a:solidFill>
            <a:srgbClr val="7A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45262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7AF0C8"/>
                </a:solidFill>
                <a:latin typeface="Segoe UI"/>
              </a:rPr>
              <a:t>Human owns “what”, agent owns “how”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9FB0D8"/>
                </a:solidFill>
                <a:latin typeface="Segoe UI"/>
              </a:rPr>
              <a:t>Run slow to run fast — invest in the spec to accelerate delivery.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Make the specification the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9FB0D8"/>
                </a:solidFill>
                <a:latin typeface="Segoe UI"/>
              </a:rPr>
              <a:t>SDD inserts durable, reviewable artifacts between intent and implementation. The AI agent gets structured context at every step — consistent, auditable, aligned to the requirement.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175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Write it down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Every feature begins as spec.md — what &amp; why, every requirement testable.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017520"/>
            <a:ext cx="338328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6280" y="30175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Plan the how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A plan turns requirements into architecture, contracts, and a data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26280" y="3017520"/>
            <a:ext cx="338328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0" y="3017520"/>
            <a:ext cx="3383280" cy="21945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Execute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Dependency-ordered tasks drive the AI to build a tested vertical slice.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3017520"/>
            <a:ext cx="338328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THE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One loop, every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F0C8"/>
                </a:solidFill>
                <a:latin typeface="Segoe UI"/>
              </a:rPr>
              <a:t>00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Constitution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guardrails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72968" y="2606040"/>
            <a:ext cx="274320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F0C8"/>
                </a:solidFill>
                <a:latin typeface="Segoe UI"/>
              </a:rPr>
              <a:t>01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Specify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spec.md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24728" y="2606040"/>
            <a:ext cx="274320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F0C8"/>
                </a:solidFill>
                <a:latin typeface="Segoe UI"/>
              </a:rPr>
              <a:t>02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Clarify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de-risk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476488" y="2606040"/>
            <a:ext cx="274320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78240" y="219456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F0C8"/>
                </a:solidFill>
                <a:latin typeface="Segoe UI"/>
              </a:rPr>
              <a:t>03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Plan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contracts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F0C8"/>
                </a:solidFill>
                <a:latin typeface="Segoe UI"/>
              </a:rPr>
              <a:t>04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Tasks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tasks.md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72968" y="4069080"/>
            <a:ext cx="274320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74720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F0C8"/>
                </a:solidFill>
                <a:latin typeface="Segoe UI"/>
              </a:rPr>
              <a:t>05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Analyze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gate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24728" y="4069080"/>
            <a:ext cx="274320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26480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AF0C8"/>
                </a:solidFill>
                <a:latin typeface="Segoe UI"/>
              </a:rPr>
              <a:t>06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Implement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code + tests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476488" y="4069080"/>
            <a:ext cx="274320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778240" y="3657600"/>
            <a:ext cx="2331720" cy="11430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9050">
            <a:solidFill>
              <a:srgbClr val="7AF0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91440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D166"/>
                </a:solidFill>
                <a:latin typeface="Segoe UI"/>
              </a:rPr>
              <a:t>07</a:t>
            </a:r>
          </a:p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EDFF"/>
                </a:solidFill>
                <a:latin typeface="Segoe UI"/>
              </a:rPr>
              <a:t>Converge</a:t>
            </a:r>
          </a:p>
          <a:p>
            <a:pPr algn="l">
              <a:lnSpc>
                <a:spcPct val="100000"/>
              </a:lnSpc>
            </a:pPr>
            <a:r>
              <a:rPr sz="1000" b="0">
                <a:solidFill>
                  <a:srgbClr val="9FB0D8"/>
                </a:solidFill>
                <a:latin typeface="Segoe UI"/>
              </a:rPr>
              <a:t>assess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FB0D8"/>
                </a:solidFill>
                <a:latin typeface="Segoe UI"/>
              </a:rPr>
              <a:t>↺  Repeat implement → converge until the gap report says “Converged”.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EACH PHASE FEEDS THE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Artifacts, not vibes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394960" cy="3017520"/>
          </a:xfrm>
          <a:prstGeom prst="roundRect">
            <a:avLst>
              <a:gd name="adj" fmla="val 8000"/>
            </a:avLst>
          </a:prstGeom>
          <a:solidFill>
            <a:srgbClr val="0D1430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B0D8"/>
                </a:solidFill>
                <a:latin typeface="Consolas"/>
              </a:rPr>
              <a:t>specs/001-order-submission/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>├── spec.md        # what &amp; why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>├── plan.md        # how — architecture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>├── contracts/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7AF0C8"/>
                </a:solidFill>
                <a:latin typeface="Consolas"/>
              </a:rPr>
              <a:t>│   └── orders-api.md   # request/response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>└── tasks.md       # ordered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22860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Reviewable.  </a:t>
            </a:r>
            <a:r>
              <a:rPr sz="1600">
                <a:solidFill>
                  <a:srgbClr val="9FB0D8"/>
                </a:solidFill>
                <a:latin typeface="Segoe UI"/>
              </a:rPr>
              <a:t>Each artifact is a PR-sized, human-readable file.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Versioned.  </a:t>
            </a:r>
            <a:r>
              <a:rPr sz="1600">
                <a:solidFill>
                  <a:srgbClr val="9FB0D8"/>
                </a:solidFill>
                <a:latin typeface="Segoe UI"/>
              </a:rPr>
              <a:t>The spec evolves in git alongside the code.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Structured context.  </a:t>
            </a:r>
            <a:r>
              <a:rPr sz="1600">
                <a:solidFill>
                  <a:srgbClr val="9FB0D8"/>
                </a:solidFill>
                <a:latin typeface="Segoe UI"/>
              </a:rPr>
              <a:t>The AI reads the prior artifact, not guesses.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FITS YOUR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From ticket to merged PR — one 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560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8EDFF"/>
                </a:solidFill>
                <a:latin typeface="Segoe UI"/>
              </a:rPr>
              <a:t>JIRA / ADO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FB0D8"/>
                </a:solidFill>
                <a:latin typeface="Segoe UI"/>
              </a:rPr>
              <a:t>ticket #1234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770632" y="2834640"/>
            <a:ext cx="347472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54680" y="2560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8EDFF"/>
                </a:solidFill>
                <a:latin typeface="Segoe UI"/>
              </a:rPr>
              <a:t>spec → plan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FB0D8"/>
                </a:solidFill>
                <a:latin typeface="Segoe UI"/>
              </a:rPr>
              <a:t>→ tasks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102352" y="2834640"/>
            <a:ext cx="347472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0" y="2560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8EDFF"/>
                </a:solidFill>
                <a:latin typeface="Segoe UI"/>
              </a:rPr>
              <a:t>branch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FB0D8"/>
                </a:solidFill>
                <a:latin typeface="Segoe UI"/>
              </a:rPr>
              <a:t>1234-feature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34072" y="2834640"/>
            <a:ext cx="347472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818120" y="2560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E8EDFF"/>
                </a:solidFill>
                <a:latin typeface="Segoe UI"/>
              </a:rPr>
              <a:t>Pull Request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9FB0D8"/>
                </a:solidFill>
                <a:latin typeface="Segoe UI"/>
              </a:rPr>
              <a:t>refs #1234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765792" y="2834640"/>
            <a:ext cx="347472" cy="365760"/>
          </a:xfrm>
          <a:prstGeom prst="rightArrow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49840" y="256032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6EA8FE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B1020"/>
                </a:solidFill>
                <a:latin typeface="Segoe UI"/>
              </a:rPr>
              <a:t>Merged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057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7AF0C8"/>
                </a:solidFill>
                <a:latin typeface="Segoe UI"/>
              </a:rPr>
              <a:t>one correlation id end-to-end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1480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Inbound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A ticket seeds spec.md automatically — never re-typed, always enriched.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114800"/>
            <a:ext cx="5120640" cy="14630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Outbound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tasks.md creates child work items linked back under the same ticket.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THE DEMO 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Thin adapters, rich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103120"/>
            <a:ext cx="3108960" cy="7315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2402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E8EDFF"/>
                </a:solidFill>
                <a:latin typeface="Segoe UI"/>
              </a:rPr>
              <a:t>HTTP trigger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E8EDFF"/>
                </a:solidFill>
                <a:latin typeface="Segoe UI"/>
              </a:rPr>
              <a:t>SubmissionService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389120"/>
            <a:ext cx="2377440" cy="822960"/>
          </a:xfrm>
          <a:prstGeom prst="roundRect">
            <a:avLst>
              <a:gd name="adj" fmla="val 8000"/>
            </a:avLst>
          </a:prstGeom>
          <a:solidFill>
            <a:srgbClr val="12213F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DFF"/>
                </a:solidFill>
                <a:latin typeface="Segoe UI"/>
              </a:rPr>
              <a:t>IMessagePublisher
InMemory | Service Bus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4389120"/>
            <a:ext cx="2194560" cy="822960"/>
          </a:xfrm>
          <a:prstGeom prst="roundRect">
            <a:avLst>
              <a:gd name="adj" fmla="val 8000"/>
            </a:avLst>
          </a:prstGeom>
          <a:solidFill>
            <a:srgbClr val="12213F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4480560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EDFF"/>
                </a:solidFill>
                <a:latin typeface="Segoe UI"/>
              </a:rPr>
              <a:t>IStatusStore
InMemory | Azure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Triggers ≈ 30 lines.  </a:t>
            </a:r>
            <a:r>
              <a:rPr sz="1600">
                <a:solidFill>
                  <a:srgbClr val="9FB0D8"/>
                </a:solidFill>
                <a:latin typeface="Segoe UI"/>
              </a:rPr>
              <a:t>Bind, validate, dispatch, return.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Core is Azure-free.  </a:t>
            </a:r>
            <a:r>
              <a:rPr sz="1600">
                <a:solidFill>
                  <a:srgbClr val="9FB0D8"/>
                </a:solidFill>
                <a:latin typeface="Segoe UI"/>
              </a:rPr>
              <a:t>Unit tests run offline, no cloud.</a:t>
            </a:r>
          </a:p>
          <a:p>
            <a:pPr>
              <a:spcAft>
                <a:spcPts val="18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Swap to Azure  </a:t>
            </a:r>
            <a:r>
              <a:rPr sz="1600">
                <a:solidFill>
                  <a:srgbClr val="9FB0D8"/>
                </a:solidFill>
                <a:latin typeface="Segoe UI"/>
              </a:rPr>
              <a:t>= two lines in Program.cs.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SEE IT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Live: async order submission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669280" cy="3291840"/>
          </a:xfrm>
          <a:prstGeom prst="roundRect">
            <a:avLst>
              <a:gd name="adj" fmla="val 8000"/>
            </a:avLst>
          </a:prstGeom>
          <a:solidFill>
            <a:srgbClr val="0D1430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B0D8"/>
                </a:solidFill>
                <a:latin typeface="Consolas"/>
              </a:rPr>
              <a:t># 1 — submit (202 + correlation id)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FD166"/>
                </a:solidFill>
                <a:latin typeface="Consolas"/>
              </a:rPr>
              <a:t>POST /api/orders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>{ "legalEntityId":"ABN-01", "lines":[…] }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7AF0C8"/>
                </a:solidFill>
                <a:latin typeface="Consolas"/>
              </a:rPr>
              <a:t>→ 202 { "correlationId":"c5d4…" }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B0D8"/>
                </a:solidFill>
                <a:latin typeface="Consolas"/>
              </a:rPr>
              <a:t># 2 — query status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FFD166"/>
                </a:solidFill>
                <a:latin typeface="Consolas"/>
              </a:rPr>
              <a:t>GET /api/orders/c5d4…/status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7AF0C8"/>
                </a:solidFill>
                <a:latin typeface="Consolas"/>
              </a:rPr>
              <a:t>→ 200 { "state":"Accepted" }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B0D8"/>
                </a:solidFill>
                <a:latin typeface="Consolas"/>
              </a:rPr>
              <a:t># 3 — resend same clientRequestId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7AF0C8"/>
                </a:solidFill>
                <a:latin typeface="Consolas"/>
              </a:rPr>
              <a:t>→ same id · published once (idempotent)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202 + id  </a:t>
            </a:r>
            <a:r>
              <a:rPr sz="1600">
                <a:solidFill>
                  <a:srgbClr val="9FB0D8"/>
                </a:solidFill>
                <a:latin typeface="Segoe UI"/>
              </a:rPr>
              <a:t>— caller decoupled from slow writes.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Idempotent  </a:t>
            </a:r>
            <a:r>
              <a:rPr sz="1600">
                <a:solidFill>
                  <a:srgbClr val="9FB0D8"/>
                </a:solidFill>
                <a:latin typeface="Segoe UI"/>
              </a:rPr>
              <a:t>— safe retries, publish exactly once.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Validated  </a:t>
            </a:r>
            <a:r>
              <a:rPr sz="1600">
                <a:solidFill>
                  <a:srgbClr val="9FB0D8"/>
                </a:solidFill>
                <a:latin typeface="Segoe UI"/>
              </a:rPr>
              <a:t>— bad input → 400, nothing published.</a:t>
            </a:r>
          </a:p>
          <a:p>
            <a:pPr>
              <a:spcAft>
                <a:spcPts val="1600"/>
              </a:spcAft>
            </a:pPr>
            <a:r>
              <a:rPr sz="1600" b="1">
                <a:solidFill>
                  <a:srgbClr val="7AF0C8"/>
                </a:solidFill>
                <a:latin typeface="Segoe UI"/>
              </a:rPr>
              <a:t>✔  </a:t>
            </a:r>
            <a:r>
              <a:rPr sz="1600" b="1">
                <a:solidFill>
                  <a:srgbClr val="E8EDFF"/>
                </a:solidFill>
                <a:latin typeface="Segoe UI"/>
              </a:rPr>
              <a:t>14 tests green  </a:t>
            </a:r>
            <a:r>
              <a:rPr sz="1600">
                <a:solidFill>
                  <a:srgbClr val="9FB0D8"/>
                </a:solidFill>
                <a:latin typeface="Segoe UI"/>
              </a:rPr>
              <a:t>— all offline.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Outcomes, measured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A8FE"/>
                </a:solidFill>
                <a:latin typeface="Segoe U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B0D8"/>
                </a:solidFill>
                <a:latin typeface="Segoe UI"/>
              </a:rPr>
              <a:t>source of truth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A8FE"/>
                </a:solidFill>
                <a:latin typeface="Segoe UI"/>
              </a:rPr>
              <a:t>100%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B0D8"/>
                </a:solidFill>
                <a:latin typeface="Segoe UI"/>
              </a:rPr>
              <a:t>changes traceable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A8FE"/>
                </a:solidFill>
                <a:latin typeface="Segoe U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B0D8"/>
                </a:solidFill>
                <a:latin typeface="Segoe UI"/>
              </a:rPr>
              <a:t>Azure to run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78308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6EA8FE"/>
                </a:solidFill>
                <a:latin typeface="Segoe UI"/>
              </a:rPr>
              <a:t>2-line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60604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FB0D8"/>
                </a:solidFill>
                <a:latin typeface="Segoe UI"/>
              </a:rPr>
              <a:t>swap to Azure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8328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Shared source of truth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One spec aligns teams and agents.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338328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Human at high leverage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Review specs, not lines of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38328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Small iterations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Frequent reviews prevent drift.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84632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Knowledge &amp; audit trail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Documents the why, not just what.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84632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Reproducible outcomes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Same spec → similar code.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846320"/>
            <a:ext cx="3383280" cy="128016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AI as collaborator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Let the agent interview you.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HOW WE RUN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The toolchain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Spec Kit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Open-source SDD toolkit — the /speckit.* commands &amp; templates.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103120"/>
            <a:ext cx="260604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93592" y="210312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GitHub Copilot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Runs the loop inside VS Code as slash-command skills.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93592" y="2103120"/>
            <a:ext cx="260604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64224" y="210312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Azure Functions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.NET 8 isolated worker — the deployable unit per feature.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64224" y="2103120"/>
            <a:ext cx="260604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34856" y="2103120"/>
            <a:ext cx="2606040" cy="210312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JIRA + ADO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Backlog in, work items out — full round-trip traceability.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34856" y="2103120"/>
            <a:ext cx="260604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4480560"/>
            <a:ext cx="10515600" cy="1188720"/>
          </a:xfrm>
          <a:prstGeom prst="roundRect">
            <a:avLst>
              <a:gd name="adj" fmla="val 8000"/>
            </a:avLst>
          </a:prstGeom>
          <a:solidFill>
            <a:srgbClr val="0D1430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46304" bIns="146304"/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9FB0D8"/>
                </a:solidFill>
                <a:latin typeface="Consolas"/>
              </a:rPr>
              <a:t>## install &amp; go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E8EDFF"/>
                </a:solidFill>
                <a:latin typeface="Consolas"/>
              </a:rPr>
              <a:t>uvx --from git+https://github.com/github/spec-kit specify init my-app --integration copilot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0">
                <a:solidFill>
                  <a:srgbClr val="7AF0C8"/>
                </a:solidFill>
                <a:latin typeface="Consolas"/>
              </a:rPr>
              <a:t>/speckit.specify · /speckit.plan · /speckit.tasks · /speckit.implement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REMEMBER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The 3 separations of SDD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Thinking ≠ doing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Specs define what; agents define how.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338328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80560" y="17830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Strategy ≠ tactics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Review specs, not lines of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783080"/>
            <a:ext cx="338328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138160" y="178308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Patterns ≠ projects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Build portable skills, not one-off prompts.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783080"/>
            <a:ext cx="3383280" cy="50800"/>
          </a:xfrm>
          <a:prstGeom prst="rect">
            <a:avLst/>
          </a:prstGeom>
          <a:solidFill>
            <a:srgbClr val="6EA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8EDFF"/>
                </a:solidFill>
                <a:latin typeface="Segoe UI"/>
              </a:rPr>
              <a:t>The 3 practices that matter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Run slow to run fast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Invest upfront to accelerate delivery.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3383280" cy="50800"/>
          </a:xfrm>
          <a:prstGeom prst="rect">
            <a:avLst/>
          </a:prstGeom>
          <a:solidFill>
            <a:srgbClr val="7A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Phases with gates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Validate early, prevent drift.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4023360"/>
            <a:ext cx="3383280" cy="50800"/>
          </a:xfrm>
          <a:prstGeom prst="rect">
            <a:avLst/>
          </a:prstGeom>
          <a:solidFill>
            <a:srgbClr val="7A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402336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Let AI interview you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Better specs through collaboration.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4023360"/>
            <a:ext cx="3383280" cy="50800"/>
          </a:xfrm>
          <a:prstGeom prst="rect">
            <a:avLst/>
          </a:prstGeom>
          <a:solidFill>
            <a:srgbClr val="7AF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FB0D8"/>
                </a:solidFill>
                <a:latin typeface="Segoe UI"/>
              </a:rPr>
              <a:t>AI amplifies what you already have — make sure you're amplifying the right things.  (DORA 2025)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SOURCES &amp; FURTHER READING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E8EDFF"/>
                </a:solidFill>
                <a:latin typeface="Segoe UI"/>
              </a:rPr>
              <a:t>Credits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Spec-Driven Development Using Coding Agents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Arun Gupta, JetBrains — Jfokus 2026. The backyard/blueprint analogy, the 3 separations.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10312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Spec-driven Development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Simon Martinelli, JUG Switzerland. “AI is not a compiler”, executable specs, guardrails.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74904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GitHub Spec Kit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github.com/github/spec-kit — the toolkit powering this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749040"/>
            <a:ext cx="5212080" cy="1463040"/>
          </a:xfrm>
          <a:prstGeom prst="roundRect">
            <a:avLst>
              <a:gd name="adj" fmla="val 8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46304"/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EDFF"/>
                </a:solidFill>
                <a:latin typeface="Segoe UI"/>
              </a:rPr>
              <a:t>Community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00" b="0">
                <a:solidFill>
                  <a:srgbClr val="9FB0D8"/>
                </a:solidFill>
                <a:latin typeface="Segoe UI"/>
              </a:rPr>
              <a:t>ainativedev.io · agentskills.io — patterns, skills, and practices.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7373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AF0C8"/>
                </a:solidFill>
                <a:latin typeface="Segoe UI"/>
              </a:rPr>
              <a:t>CONSTITUTION ONCE · SPECIFY → PLAN → TASKS → IMPLEMENT → CONVERGE PER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2860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>
                <a:solidFill>
                  <a:srgbClr val="E8EDFF"/>
                </a:solidFill>
                <a:latin typeface="Segoe UI"/>
              </a:rPr>
              <a:t>Spec first. Then let AI build.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14800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9FB0D8"/>
                </a:solidFill>
                <a:latin typeface="Segoe UI"/>
              </a:rPr>
              <a:t>Durable intent, reviewable artifacts, consistent output, and end-to-end traceability — the gold standard for AI-assisted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394960"/>
            <a:ext cx="4572000" cy="502920"/>
          </a:xfrm>
          <a:prstGeom prst="roundRect">
            <a:avLst>
              <a:gd name="adj" fmla="val 50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468112"/>
            <a:ext cx="43891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0D8"/>
                </a:solidFill>
                <a:latin typeface="Segoe UI"/>
              </a:rPr>
              <a:t>▶  Live demo: func start + demo.http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5394960"/>
            <a:ext cx="3931920" cy="502920"/>
          </a:xfrm>
          <a:prstGeom prst="roundRect">
            <a:avLst>
              <a:gd name="adj" fmla="val 50000"/>
            </a:avLst>
          </a:prstGeom>
          <a:solidFill>
            <a:srgbClr val="161F3D"/>
          </a:solidFill>
          <a:ln w="12700">
            <a:solidFill>
              <a:srgbClr val="2834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5468112"/>
            <a:ext cx="3749039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FB0D8"/>
                </a:solidFill>
                <a:latin typeface="Segoe UI"/>
              </a:rPr>
              <a:t>📄  docs/ · ADRs · constitution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